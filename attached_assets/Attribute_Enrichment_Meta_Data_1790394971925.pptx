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Inter SemiBold"/>
      <p:regular r:id="rId12"/>
      <p:bold r:id="rId13"/>
      <p:italic r:id="rId14"/>
      <p:boldItalic r:id="rId15"/>
    </p:embeddedFont>
    <p:embeddedFont>
      <p:font typeface="Playfair Display"/>
      <p:bold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Inter"/>
      <p:bold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  <p:embeddedFont>
      <p:font typeface="Playfair Display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Inter-bold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font" Target="fonts/MontserratSemiBold-boldItalic.fntdata"/><Relationship Id="rId33" Type="http://schemas.openxmlformats.org/officeDocument/2006/relationships/font" Target="fonts/PlayfairDisplaySemiBold-bold.fntdata"/><Relationship Id="rId10" Type="http://schemas.openxmlformats.org/officeDocument/2006/relationships/font" Target="fonts/MontserratSemiBold-italic.fntdata"/><Relationship Id="rId32" Type="http://schemas.openxmlformats.org/officeDocument/2006/relationships/font" Target="fonts/PlayfairDisplaySemiBold-regular.fntdata"/><Relationship Id="rId13" Type="http://schemas.openxmlformats.org/officeDocument/2006/relationships/font" Target="fonts/InterSemiBold-bold.fntdata"/><Relationship Id="rId35" Type="http://schemas.openxmlformats.org/officeDocument/2006/relationships/font" Target="fonts/PlayfairDisplaySemiBold-boldItalic.fntdata"/><Relationship Id="rId12" Type="http://schemas.openxmlformats.org/officeDocument/2006/relationships/font" Target="fonts/InterSemiBold-regular.fntdata"/><Relationship Id="rId34" Type="http://schemas.openxmlformats.org/officeDocument/2006/relationships/font" Target="fonts/PlayfairDisplaySemiBold-italic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1144c99620eeb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1144c99620eeb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76250" y="33337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8C764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RealReal — Item Attribute Enrichment </a:t>
            </a:r>
            <a:r>
              <a:rPr b="0" lang="en" sz="900">
                <a:solidFill>
                  <a:srgbClr val="707070"/>
                </a:solidFill>
                <a:latin typeface="Montserrat"/>
                <a:ea typeface="Montserrat"/>
                <a:cs typeface="Montserrat"/>
                <a:sym typeface="Montserrat"/>
              </a:rPr>
              <a:t>Taxon: Ready-to-Wear</a:t>
            </a:r>
            <a:endParaRPr b="0" sz="900">
              <a:solidFill>
                <a:srgbClr val="8C764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76250" y="762000"/>
            <a:ext cx="2476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E5E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2687" l="0" r="0" t="2687"/>
          <a:stretch/>
        </p:blipFill>
        <p:spPr>
          <a:xfrm>
            <a:off x="476250" y="762000"/>
            <a:ext cx="24765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76250" y="430530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Chanel Vintage Top</a:t>
            </a:r>
            <a:endParaRPr b="1" sz="1500">
              <a:solidFill>
                <a:srgbClr val="1A1A1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8C764F"/>
                </a:solidFill>
                <a:latin typeface="Inter Medium"/>
                <a:ea typeface="Inter Medium"/>
                <a:cs typeface="Inter Medium"/>
                <a:sym typeface="Inter Medium"/>
              </a:rPr>
              <a:t>Very Good Condition • $945.00</a:t>
            </a:r>
            <a:endParaRPr b="0" sz="1000">
              <a:solidFill>
                <a:srgbClr val="8C764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3238500" y="762000"/>
            <a:ext cx="2571900" cy="952500"/>
            <a:chOff x="0" y="0"/>
            <a:chExt cx="2571900" cy="952500"/>
          </a:xfrm>
        </p:grpSpPr>
        <p:sp>
          <p:nvSpPr>
            <p:cNvPr id="59" name="Google Shape;59;p13"/>
            <p:cNvSpPr/>
            <p:nvPr/>
          </p:nvSpPr>
          <p:spPr>
            <a:xfrm>
              <a:off x="0" y="0"/>
              <a:ext cx="25719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AE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142875" y="114300"/>
              <a:ext cx="2286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C764F"/>
                  </a:solidFill>
                  <a:latin typeface="Inter"/>
                  <a:ea typeface="Inter"/>
                  <a:cs typeface="Inter"/>
                  <a:sym typeface="Inter"/>
                </a:rPr>
                <a:t>Aesthetic</a:t>
              </a:r>
              <a:endParaRPr b="1" sz="850">
                <a:solidFill>
                  <a:srgbClr val="8C76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1A1A1A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Romantic, Classic, Feminine</a:t>
              </a:r>
              <a:endParaRPr b="0" i="1" sz="1300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62" name="Google Shape;62;p13"/>
          <p:cNvGrpSpPr/>
          <p:nvPr/>
        </p:nvGrpSpPr>
        <p:grpSpPr>
          <a:xfrm>
            <a:off x="6000750" y="762000"/>
            <a:ext cx="2667000" cy="952500"/>
            <a:chOff x="0" y="0"/>
            <a:chExt cx="2667000" cy="952500"/>
          </a:xfrm>
        </p:grpSpPr>
        <p:sp>
          <p:nvSpPr>
            <p:cNvPr id="63" name="Google Shape;63;p13"/>
            <p:cNvSpPr/>
            <p:nvPr/>
          </p:nvSpPr>
          <p:spPr>
            <a:xfrm>
              <a:off x="0" y="0"/>
              <a:ext cx="26670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AE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142875" y="114300"/>
              <a:ext cx="23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C764F"/>
                  </a:solidFill>
                  <a:latin typeface="Inter"/>
                  <a:ea typeface="Inter"/>
                  <a:cs typeface="Inter"/>
                  <a:sym typeface="Inter"/>
                </a:rPr>
                <a:t>Colorway</a:t>
              </a:r>
              <a:endParaRPr b="1" sz="850">
                <a:solidFill>
                  <a:srgbClr val="8C76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Black with nude/tan lace backing</a:t>
              </a:r>
              <a:endParaRPr b="0" sz="11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3238500" y="1857375"/>
            <a:ext cx="2571900" cy="952500"/>
            <a:chOff x="0" y="0"/>
            <a:chExt cx="2571900" cy="9525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0"/>
              <a:ext cx="25719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AE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2875" y="114300"/>
              <a:ext cx="2286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C764F"/>
                  </a:solidFill>
                  <a:latin typeface="Inter"/>
                  <a:ea typeface="Inter"/>
                  <a:cs typeface="Inter"/>
                  <a:sym typeface="Inter"/>
                </a:rPr>
                <a:t>Occasion</a:t>
              </a:r>
              <a:endParaRPr b="1" sz="850">
                <a:solidFill>
                  <a:srgbClr val="8C76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Evening Wear, Date Night, Party</a:t>
              </a:r>
              <a:endParaRPr b="0" sz="11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6000750" y="1857375"/>
            <a:ext cx="2667000" cy="952500"/>
            <a:chOff x="0" y="0"/>
            <a:chExt cx="2667000" cy="952500"/>
          </a:xfrm>
        </p:grpSpPr>
        <p:sp>
          <p:nvSpPr>
            <p:cNvPr id="71" name="Google Shape;71;p13"/>
            <p:cNvSpPr/>
            <p:nvPr/>
          </p:nvSpPr>
          <p:spPr>
            <a:xfrm>
              <a:off x="0" y="0"/>
              <a:ext cx="2667000" cy="952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AE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 txBox="1"/>
            <p:nvPr/>
          </p:nvSpPr>
          <p:spPr>
            <a:xfrm>
              <a:off x="142875" y="114300"/>
              <a:ext cx="2381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C764F"/>
                  </a:solidFill>
                  <a:latin typeface="Inter"/>
                  <a:ea typeface="Inter"/>
                  <a:cs typeface="Inter"/>
                  <a:sym typeface="Inter"/>
                </a:rPr>
                <a:t>Target Customer</a:t>
              </a:r>
              <a:endParaRPr b="1" sz="850">
                <a:solidFill>
                  <a:srgbClr val="8C76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Women seeking elegant, feminine evening wear.</a:t>
              </a:r>
              <a:endParaRPr b="0" sz="11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4" name="Google Shape;74;p13"/>
          <p:cNvGrpSpPr/>
          <p:nvPr/>
        </p:nvGrpSpPr>
        <p:grpSpPr>
          <a:xfrm>
            <a:off x="3238500" y="2952750"/>
            <a:ext cx="5429400" cy="1238400"/>
            <a:chOff x="0" y="0"/>
            <a:chExt cx="5429400" cy="1238400"/>
          </a:xfrm>
        </p:grpSpPr>
        <p:sp>
          <p:nvSpPr>
            <p:cNvPr id="75" name="Google Shape;75;p13"/>
            <p:cNvSpPr/>
            <p:nvPr/>
          </p:nvSpPr>
          <p:spPr>
            <a:xfrm>
              <a:off x="0" y="0"/>
              <a:ext cx="5429400" cy="1238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AE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0" y="0"/>
              <a:ext cx="38100" cy="1238400"/>
            </a:xfrm>
            <a:prstGeom prst="roundRect">
              <a:avLst>
                <a:gd fmla="val 50000" name="adj"/>
              </a:avLst>
            </a:pr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 txBox="1"/>
            <p:nvPr/>
          </p:nvSpPr>
          <p:spPr>
            <a:xfrm>
              <a:off x="190500" y="142875"/>
              <a:ext cx="504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C764F"/>
                  </a:solidFill>
                  <a:latin typeface="Inter"/>
                  <a:ea typeface="Inter"/>
                  <a:cs typeface="Inter"/>
                  <a:sym typeface="Inter"/>
                </a:rPr>
                <a:t>Body Shape Suitability</a:t>
              </a:r>
              <a:endParaRPr b="1" sz="850">
                <a:solidFill>
                  <a:srgbClr val="8C764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Best suited for: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Hourglass, Inverted Triangle, or Athletic body types.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This piece beautifully highlights the shoulders and helps define the waist line.</a:t>
              </a:r>
              <a:endParaRPr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/>
        </p:nvSpPr>
        <p:spPr>
          <a:xfrm>
            <a:off x="428625" y="190500"/>
            <a:ext cx="828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REALREAL</a:t>
            </a:r>
            <a:r>
              <a:rPr lang="en">
                <a:solidFill>
                  <a:srgbClr val="A38A5F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r>
              <a:rPr b="0" lang="en" sz="1000">
                <a:solidFill>
                  <a:srgbClr val="5555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ITEM ATTRIBUTE ENRICHMENT</a:t>
            </a:r>
            <a:r>
              <a:rPr b="0" lang="en" sz="850">
                <a:solidFill>
                  <a:srgbClr val="8C764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TAXON: READY-TO-WEAR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>
            <a:off x="428625" y="619125"/>
            <a:ext cx="2524200" cy="4238700"/>
            <a:chOff x="0" y="0"/>
            <a:chExt cx="2524200" cy="4238700"/>
          </a:xfrm>
        </p:grpSpPr>
        <p:pic>
          <p:nvPicPr>
            <p:cNvPr id="84" name="Google Shape;8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524200" cy="423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4"/>
            <p:cNvSpPr/>
            <p:nvPr/>
          </p:nvSpPr>
          <p:spPr>
            <a:xfrm>
              <a:off x="142875" y="142875"/>
              <a:ext cx="2238300" cy="3000300"/>
            </a:xfrm>
            <a:prstGeom prst="roundRect">
              <a:avLst>
                <a:gd fmla="val 1702" name="adj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14"/>
            <p:cNvPicPr preferRelativeResize="0"/>
            <p:nvPr/>
          </p:nvPicPr>
          <p:blipFill rotWithShape="1">
            <a:blip r:embed="rId5">
              <a:alphaModFix/>
            </a:blip>
            <a:srcRect b="2426" l="0" r="0" t="2426"/>
            <a:stretch/>
          </p:blipFill>
          <p:spPr>
            <a:xfrm>
              <a:off x="404813" y="214313"/>
              <a:ext cx="17145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4"/>
            <p:cNvSpPr txBox="1"/>
            <p:nvPr/>
          </p:nvSpPr>
          <p:spPr>
            <a:xfrm>
              <a:off x="142875" y="3257550"/>
              <a:ext cx="22383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1A1A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Marni Striped Shirt</a:t>
              </a:r>
              <a:endParaRPr b="1" sz="1600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38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EXCELLENT CONDITION • $346.00</a:t>
              </a:r>
              <a:endParaRPr b="0" sz="950">
                <a:solidFill>
                  <a:srgbClr val="A38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3143250" y="619125"/>
            <a:ext cx="2667000" cy="1285800"/>
            <a:chOff x="0" y="0"/>
            <a:chExt cx="2667000" cy="1285800"/>
          </a:xfrm>
        </p:grpSpPr>
        <p:pic>
          <p:nvPicPr>
            <p:cNvPr id="89" name="Google Shape;8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6670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4"/>
            <p:cNvSpPr/>
            <p:nvPr/>
          </p:nvSpPr>
          <p:spPr>
            <a:xfrm>
              <a:off x="0" y="0"/>
              <a:ext cx="76200" cy="1285800"/>
            </a:xfrm>
            <a:custGeom>
              <a:rect b="b" l="l" r="r" t="t"/>
              <a:pathLst>
                <a:path extrusionOk="0" h="120000" w="120000">
                  <a:moveTo>
                    <a:pt x="0" y="7111"/>
                  </a:moveTo>
                  <a:quadBezTo>
                    <a:pt x="0" y="0"/>
                    <a:pt x="12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89"/>
                  </a:quadBezTo>
                  <a:close/>
                </a:path>
              </a:pathLst>
            </a:cu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228600" y="152400"/>
              <a:ext cx="23052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38A5F"/>
                  </a:solidFill>
                  <a:latin typeface="Inter"/>
                  <a:ea typeface="Inter"/>
                  <a:cs typeface="Inter"/>
                  <a:sym typeface="Inter"/>
                </a:rPr>
                <a:t>Aesthetic</a:t>
              </a:r>
              <a:endParaRPr b="1" sz="850">
                <a:solidFill>
                  <a:srgbClr val="A38A5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" sz="1350">
                  <a:solidFill>
                    <a:srgbClr val="1A1A1A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Streetwear; luxury; modern; casual</a:t>
              </a:r>
              <a:endParaRPr b="0" i="1" sz="1350">
                <a:solidFill>
                  <a:srgbClr val="1A1A1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92" name="Google Shape;92;p14"/>
          <p:cNvGrpSpPr/>
          <p:nvPr/>
        </p:nvGrpSpPr>
        <p:grpSpPr>
          <a:xfrm>
            <a:off x="6000750" y="619125"/>
            <a:ext cx="2714700" cy="1285800"/>
            <a:chOff x="0" y="0"/>
            <a:chExt cx="2714700" cy="1285800"/>
          </a:xfrm>
        </p:grpSpPr>
        <p:pic>
          <p:nvPicPr>
            <p:cNvPr id="93" name="Google Shape;93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27147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4"/>
            <p:cNvSpPr/>
            <p:nvPr/>
          </p:nvSpPr>
          <p:spPr>
            <a:xfrm>
              <a:off x="0" y="0"/>
              <a:ext cx="76200" cy="1285800"/>
            </a:xfrm>
            <a:custGeom>
              <a:rect b="b" l="l" r="r" t="t"/>
              <a:pathLst>
                <a:path extrusionOk="0" h="120000" w="120000">
                  <a:moveTo>
                    <a:pt x="0" y="7111"/>
                  </a:moveTo>
                  <a:quadBezTo>
                    <a:pt x="0" y="0"/>
                    <a:pt x="12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89"/>
                  </a:quadBezTo>
                  <a:close/>
                </a:path>
              </a:pathLst>
            </a:cu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228600" y="152400"/>
              <a:ext cx="23337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38A5F"/>
                  </a:solidFill>
                  <a:latin typeface="Inter"/>
                  <a:ea typeface="Inter"/>
                  <a:cs typeface="Inter"/>
                  <a:sym typeface="Inter"/>
                </a:rPr>
                <a:t>Colorway</a:t>
              </a:r>
              <a:endParaRPr b="1" sz="850">
                <a:solidFill>
                  <a:srgbClr val="A38A5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White and blue striped with multi-color paint splatters</a:t>
              </a:r>
              <a:endParaRPr b="0" sz="1050">
                <a:solidFill>
                  <a:srgbClr val="2D374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3143250" y="2047875"/>
            <a:ext cx="2667000" cy="1285800"/>
            <a:chOff x="0" y="0"/>
            <a:chExt cx="2667000" cy="1285800"/>
          </a:xfrm>
        </p:grpSpPr>
        <p:pic>
          <p:nvPicPr>
            <p:cNvPr id="97" name="Google Shape;97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6670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4"/>
            <p:cNvSpPr/>
            <p:nvPr/>
          </p:nvSpPr>
          <p:spPr>
            <a:xfrm>
              <a:off x="0" y="0"/>
              <a:ext cx="76200" cy="1285800"/>
            </a:xfrm>
            <a:custGeom>
              <a:rect b="b" l="l" r="r" t="t"/>
              <a:pathLst>
                <a:path extrusionOk="0" h="120000" w="120000">
                  <a:moveTo>
                    <a:pt x="0" y="7111"/>
                  </a:moveTo>
                  <a:quadBezTo>
                    <a:pt x="0" y="0"/>
                    <a:pt x="12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89"/>
                  </a:quadBezTo>
                  <a:close/>
                </a:path>
              </a:pathLst>
            </a:cu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28600" y="152400"/>
              <a:ext cx="23052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38A5F"/>
                  </a:solidFill>
                  <a:latin typeface="Inter"/>
                  <a:ea typeface="Inter"/>
                  <a:cs typeface="Inter"/>
                  <a:sym typeface="Inter"/>
                </a:rPr>
                <a:t>Occasion</a:t>
              </a:r>
              <a:endParaRPr b="1" sz="850">
                <a:solidFill>
                  <a:srgbClr val="A38A5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Casual, Everyday Wear, Streetwear, Resort</a:t>
              </a:r>
              <a:endParaRPr b="0" sz="1050">
                <a:solidFill>
                  <a:srgbClr val="2D374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6000750" y="2047875"/>
            <a:ext cx="2714700" cy="1285800"/>
            <a:chOff x="0" y="0"/>
            <a:chExt cx="2714700" cy="1285800"/>
          </a:xfrm>
        </p:grpSpPr>
        <p:pic>
          <p:nvPicPr>
            <p:cNvPr id="101" name="Google Shape;10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27147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4"/>
            <p:cNvSpPr/>
            <p:nvPr/>
          </p:nvSpPr>
          <p:spPr>
            <a:xfrm>
              <a:off x="0" y="0"/>
              <a:ext cx="76200" cy="1285800"/>
            </a:xfrm>
            <a:custGeom>
              <a:rect b="b" l="l" r="r" t="t"/>
              <a:pathLst>
                <a:path extrusionOk="0" h="120000" w="120000">
                  <a:moveTo>
                    <a:pt x="0" y="7111"/>
                  </a:moveTo>
                  <a:quadBezTo>
                    <a:pt x="0" y="0"/>
                    <a:pt x="12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89"/>
                  </a:quadBezTo>
                  <a:close/>
                </a:path>
              </a:pathLst>
            </a:cu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228600" y="152400"/>
              <a:ext cx="23337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38A5F"/>
                  </a:solidFill>
                  <a:latin typeface="Inter"/>
                  <a:ea typeface="Inter"/>
                  <a:cs typeface="Inter"/>
                  <a:sym typeface="Inter"/>
                </a:rPr>
                <a:t>Target Customer</a:t>
              </a:r>
              <a:endParaRPr b="1" sz="850">
                <a:solidFill>
                  <a:srgbClr val="A38A5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D374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Fashion-forward men, luxury streetwear enthusiasts</a:t>
              </a:r>
              <a:endParaRPr b="0" sz="1050">
                <a:solidFill>
                  <a:srgbClr val="2D374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3143250" y="3476625"/>
            <a:ext cx="5572200" cy="1381200"/>
            <a:chOff x="0" y="0"/>
            <a:chExt cx="5572200" cy="1381200"/>
          </a:xfrm>
        </p:grpSpPr>
        <p:pic>
          <p:nvPicPr>
            <p:cNvPr id="105" name="Google Shape;105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5572200" cy="138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4"/>
            <p:cNvSpPr/>
            <p:nvPr/>
          </p:nvSpPr>
          <p:spPr>
            <a:xfrm>
              <a:off x="0" y="0"/>
              <a:ext cx="76200" cy="1381200"/>
            </a:xfrm>
            <a:custGeom>
              <a:rect b="b" l="l" r="r" t="t"/>
              <a:pathLst>
                <a:path extrusionOk="0" h="120000" w="120000">
                  <a:moveTo>
                    <a:pt x="0" y="6621"/>
                  </a:moveTo>
                  <a:quadBezTo>
                    <a:pt x="0" y="0"/>
                    <a:pt x="12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3379"/>
                  </a:quadBezTo>
                  <a:close/>
                </a:path>
              </a:pathLst>
            </a:custGeom>
            <a:solidFill>
              <a:srgbClr val="A3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228600" y="152400"/>
              <a:ext cx="51912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38A5F"/>
                  </a:solidFill>
                  <a:latin typeface="Inter"/>
                  <a:ea typeface="Inter"/>
                  <a:cs typeface="Inter"/>
                  <a:sym typeface="Inter"/>
                </a:rPr>
                <a:t>Body Shape Suitability</a:t>
              </a:r>
              <a:endParaRPr b="1" sz="850">
                <a:solidFill>
                  <a:srgbClr val="A38A5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Best suited for:</a:t>
              </a:r>
              <a:r>
                <a:rPr lang="en" sz="10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 This relaxed-fit short-sleeved shirt is versatile and can suit various body types, offering a comfortable and stylish silhouette. Its straight cut allows for ease of movement and a casual drape, making it suitable for most proportions.</a:t>
              </a:r>
              <a:endParaRPr sz="1000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